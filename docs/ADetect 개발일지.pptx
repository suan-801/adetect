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9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7" autoAdjust="0"/>
    <p:restoredTop sz="94660"/>
  </p:normalViewPr>
  <p:slideViewPr>
    <p:cSldViewPr snapToGrid="0">
      <p:cViewPr>
        <p:scale>
          <a:sx n="75" d="100"/>
          <a:sy n="75" d="100"/>
        </p:scale>
        <p:origin x="1156" y="6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8F1D9-B437-E6FF-A98C-DFF628856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A8B74A9-07EE-8156-8F3E-7FF280786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598980-7004-D66F-AB90-E7469DD2C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41DA-291B-4352-80C6-9153C9DF2AF5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2A37B4-E5C5-E105-85DA-19A470ED2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9CE111-321F-DC74-A3B6-536CA302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3108-1933-4B5D-BEC6-7D4A852BC7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6999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DA7083-2F50-D3C3-4DDE-DBD3D0F23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ACC0B9-594B-01E9-5263-221B1C5FD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D3AA8C-ACE0-8702-8D75-07B2CE3DD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41DA-291B-4352-80C6-9153C9DF2AF5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0BD412-6A1D-F060-AEEF-5DCF94AC1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3C8171-3594-55CF-3297-53FDA49AC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3108-1933-4B5D-BEC6-7D4A852BC7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78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886345-138F-4E0F-B04C-CFA8CB336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327D70-F87A-C499-6269-1CF7682F1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2998A3-4583-195D-43E3-B877EABAA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41DA-291B-4352-80C6-9153C9DF2AF5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8783B6-FE0E-488B-FB03-BDEC780BA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78733A-BCF9-0FA2-EDF4-31F60157B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3108-1933-4B5D-BEC6-7D4A852BC7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680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861BF0-F5C4-2441-3546-E9926768C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922C8B-5B91-F092-2C0E-8B717F73C0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F1940A5-708E-E1D7-F2D2-5C6035CC3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986B91-3FE5-F59E-3794-3EAB9F813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41DA-291B-4352-80C6-9153C9DF2AF5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895484-F7A7-D31C-D243-F878A54F3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D6082F-37B1-6199-EF3F-F0EE554C1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3108-1933-4B5D-BEC6-7D4A852BC7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1433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55810-1EA4-DDE0-9C0A-D741BCA49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B9323E-78B1-E525-6B80-E542CD2D3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335AFC-91C3-D328-07AA-BA488C4083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B51F8DC-6671-F07C-42DF-82B64A46D0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50EF59C-4E8B-9AC2-E8BF-395EEE661F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829A3E1-2C91-F2AF-5B72-836400C16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41DA-291B-4352-80C6-9153C9DF2AF5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91911B2-4D5C-90A5-0A8E-A25C28139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6EE0D3-3668-8FF5-7FE4-49EC53256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3108-1933-4B5D-BEC6-7D4A852BC7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0787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DD08D8-98CA-34CA-83E6-4D5BB903D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B94D8CA-12D4-4C89-B470-DF63DEB49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41DA-291B-4352-80C6-9153C9DF2AF5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0EE98F-915D-83B8-74F3-6E1ECE803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DD3464-7779-4067-C029-6FDA504B8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3108-1933-4B5D-BEC6-7D4A852BC7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634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6D11A39-C868-6C38-FE7F-85DB77B3D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41DA-291B-4352-80C6-9153C9DF2AF5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6411D03-CDAD-831D-2808-4863B6A31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7B4958-5993-DEC3-45FF-888FFAFE4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3108-1933-4B5D-BEC6-7D4A852BC7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03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9B0FCE-E449-C03D-0C61-99FC45EE8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3C667F-9672-39F8-3465-C928A755D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9ADB5C-912A-7497-FEEC-97A7B52EB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401C5F-D35B-F6FB-DB06-F9868AC06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41DA-291B-4352-80C6-9153C9DF2AF5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979B00-6AD7-E0D3-7D5C-7335C2A03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D0F73D-3BBC-B793-DB3D-4CA1A9884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3108-1933-4B5D-BEC6-7D4A852BC7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069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46A50C-A15F-24E6-9831-763556C66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6AB06EF-3517-34D5-86F7-F30B40E7F1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12A761-0650-D421-458B-98174F45B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99F649-22E0-F83A-0BF5-5AA88CBF3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41DA-291B-4352-80C6-9153C9DF2AF5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EA123-C868-E82F-2648-0C2485381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E861F6-E94B-1B9B-B9D2-63A964CDE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3108-1933-4B5D-BEC6-7D4A852BC7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977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179431-B964-D015-E40B-9C377EC9D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D5DCD3-5808-742B-B9CA-4546CD4D3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A7B2BB-72AF-4741-6160-93CBE3175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41DA-291B-4352-80C6-9153C9DF2AF5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6281F5-653B-9BF7-B090-3DD082F29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C87131-03A3-8F44-E9E6-F87E811A4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3108-1933-4B5D-BEC6-7D4A852BC7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272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87C9E82-B6A2-73CF-47ED-5D4D79331A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73DCD1-08CD-8EBA-EA1B-0322C6EB46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B80F6E-BEB5-528C-1474-4D159F451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41DA-291B-4352-80C6-9153C9DF2AF5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A69252-3119-6F9B-47BC-E01A8C48C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F890E4-A2E5-2C72-81E6-A520A0D93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3108-1933-4B5D-BEC6-7D4A852BC7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8035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127C06A-53CE-90A7-3CA6-E2559F325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8F7814-FF0D-4C52-1D73-A29F05D01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8499F8-D1C3-4184-3090-7E5494691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0641DA-291B-4352-80C6-9153C9DF2AF5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CB3758-4422-C60A-795D-870CEADAC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BD1350-CADE-213F-4088-18C6324C8A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353108-1933-4B5D-BEC6-7D4A852BC7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522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74D2EDC3-8BAB-0CC2-D96D-A367F9AA7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690"/>
          <a:stretch>
            <a:fillRect/>
          </a:stretch>
        </p:blipFill>
        <p:spPr>
          <a:xfrm>
            <a:off x="5911708" y="989619"/>
            <a:ext cx="4189025" cy="32356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E162D0-2322-0F16-428B-A58064E8F7F5}"/>
              </a:ext>
            </a:extLst>
          </p:cNvPr>
          <p:cNvSpPr txBox="1"/>
          <p:nvPr/>
        </p:nvSpPr>
        <p:spPr>
          <a:xfrm>
            <a:off x="3668893" y="2259449"/>
            <a:ext cx="4854214" cy="2339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  <a:cs typeface="Pretendard ExtraBold" panose="02000903000000020004" pitchFamily="50" charset="-127"/>
              </a:rPr>
              <a:t>ADetect</a:t>
            </a:r>
            <a:r>
              <a:rPr lang="en-US" altLang="ko-KR" sz="64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  <a:cs typeface="Pretendard ExtraBold" panose="02000903000000020004" pitchFamily="50" charset="-127"/>
              </a:rPr>
              <a:t> </a:t>
            </a:r>
          </a:p>
          <a:p>
            <a:pPr algn="ctr"/>
            <a:r>
              <a:rPr lang="ko-KR" altLang="en-US" sz="64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  <a:cs typeface="Pretendard ExtraBold" panose="02000903000000020004" pitchFamily="50" charset="-127"/>
              </a:rPr>
              <a:t>개발일기</a:t>
            </a:r>
          </a:p>
        </p:txBody>
      </p:sp>
    </p:spTree>
    <p:extLst>
      <p:ext uri="{BB962C8B-B14F-4D97-AF65-F5344CB8AC3E}">
        <p14:creationId xmlns:p14="http://schemas.microsoft.com/office/powerpoint/2010/main" val="1329898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C99E62-B624-9831-65D6-3B44710DCCBE}"/>
              </a:ext>
            </a:extLst>
          </p:cNvPr>
          <p:cNvSpPr txBox="1"/>
          <p:nvPr/>
        </p:nvSpPr>
        <p:spPr>
          <a:xfrm>
            <a:off x="364066" y="330201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페이퍼로지 6 SemiBold" pitchFamily="2" charset="-127"/>
                <a:ea typeface="페이퍼로지 6 SemiBold" pitchFamily="2" charset="-127"/>
              </a:rPr>
              <a:t>개발 목표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248943-6B8E-F084-7D22-F7B65217045A}"/>
              </a:ext>
            </a:extLst>
          </p:cNvPr>
          <p:cNvSpPr txBox="1"/>
          <p:nvPr/>
        </p:nvSpPr>
        <p:spPr>
          <a:xfrm>
            <a:off x="364066" y="1109134"/>
            <a:ext cx="518763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200" dirty="0">
                <a:solidFill>
                  <a:schemeClr val="bg1">
                    <a:lumMod val="7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거창한 목표는 없지만</a:t>
            </a:r>
            <a:endParaRPr lang="en-US" altLang="ko-KR" sz="4200" dirty="0">
              <a:solidFill>
                <a:schemeClr val="bg1">
                  <a:lumMod val="75000"/>
                </a:schemeClr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r>
              <a:rPr lang="en-US" altLang="ko-KR" sz="4200" dirty="0">
                <a:latin typeface="페이퍼로지 6 SemiBold" pitchFamily="2" charset="-127"/>
                <a:ea typeface="페이퍼로지 6 SemiBold" pitchFamily="2" charset="-127"/>
              </a:rPr>
              <a:t>‘</a:t>
            </a:r>
            <a:r>
              <a:rPr lang="ko-KR" altLang="en-US" sz="4200" dirty="0">
                <a:latin typeface="페이퍼로지 6 SemiBold" pitchFamily="2" charset="-127"/>
                <a:ea typeface="페이퍼로지 6 SemiBold" pitchFamily="2" charset="-127"/>
              </a:rPr>
              <a:t>내가</a:t>
            </a:r>
            <a:r>
              <a:rPr lang="en-US" altLang="ko-KR" sz="4200" dirty="0">
                <a:latin typeface="페이퍼로지 6 SemiBold" pitchFamily="2" charset="-127"/>
                <a:ea typeface="페이퍼로지 6 SemiBold" pitchFamily="2" charset="-127"/>
              </a:rPr>
              <a:t>’ </a:t>
            </a:r>
            <a:r>
              <a:rPr lang="ko-KR" altLang="en-US" sz="4200" dirty="0">
                <a:latin typeface="페이퍼로지 6 SemiBold" pitchFamily="2" charset="-127"/>
                <a:ea typeface="페이퍼로지 6 SemiBold" pitchFamily="2" charset="-127"/>
              </a:rPr>
              <a:t>쓰는 </a:t>
            </a:r>
            <a:r>
              <a:rPr lang="en-US" altLang="ko-KR" sz="4200" dirty="0"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lang="ko-KR" altLang="en-US" sz="4200" dirty="0">
                <a:latin typeface="페이퍼로지 6 SemiBold" pitchFamily="2" charset="-127"/>
                <a:ea typeface="페이퍼로지 6 SemiBold" pitchFamily="2" charset="-127"/>
              </a:rPr>
              <a:t>솔루션</a:t>
            </a:r>
            <a:r>
              <a:rPr lang="ko-KR" altLang="en-US" sz="4200" dirty="0">
                <a:solidFill>
                  <a:schemeClr val="bg1">
                    <a:lumMod val="7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을</a:t>
            </a:r>
            <a:endParaRPr lang="en-US" altLang="ko-KR" sz="4200" dirty="0">
              <a:solidFill>
                <a:schemeClr val="bg1">
                  <a:lumMod val="75000"/>
                </a:schemeClr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r>
              <a:rPr lang="ko-KR" altLang="en-US" sz="4200" dirty="0">
                <a:solidFill>
                  <a:schemeClr val="bg1">
                    <a:lumMod val="7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만들어보고 싶다</a:t>
            </a:r>
            <a:r>
              <a:rPr lang="en-US" altLang="ko-KR" sz="4200" dirty="0">
                <a:solidFill>
                  <a:schemeClr val="bg1">
                    <a:lumMod val="7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!</a:t>
            </a:r>
            <a:endParaRPr lang="ko-KR" altLang="en-US" sz="4200" dirty="0">
              <a:solidFill>
                <a:schemeClr val="bg1">
                  <a:lumMod val="75000"/>
                </a:schemeClr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370A2C9-334E-80B9-CC00-BF079375B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2782709"/>
            <a:ext cx="5693834" cy="379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309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141132-75BD-8012-7DB3-E8FB306F671F}"/>
              </a:ext>
            </a:extLst>
          </p:cNvPr>
          <p:cNvSpPr txBox="1"/>
          <p:nvPr/>
        </p:nvSpPr>
        <p:spPr>
          <a:xfrm>
            <a:off x="364066" y="330201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페이퍼로지 6 SemiBold" pitchFamily="2" charset="-127"/>
                <a:ea typeface="페이퍼로지 6 SemiBold" pitchFamily="2" charset="-127"/>
              </a:rPr>
              <a:t>① 기획하기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59D9B6-A672-31AC-9BF4-811F8B737036}"/>
              </a:ext>
            </a:extLst>
          </p:cNvPr>
          <p:cNvSpPr txBox="1"/>
          <p:nvPr/>
        </p:nvSpPr>
        <p:spPr>
          <a:xfrm>
            <a:off x="364066" y="1092201"/>
            <a:ext cx="587853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200" dirty="0">
                <a:solidFill>
                  <a:schemeClr val="bg1">
                    <a:lumMod val="7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일단 </a:t>
            </a:r>
            <a:r>
              <a:rPr lang="ko-KR" altLang="en-US" sz="4200" dirty="0">
                <a:latin typeface="페이퍼로지 6 SemiBold" pitchFamily="2" charset="-127"/>
                <a:ea typeface="페이퍼로지 6 SemiBold" pitchFamily="2" charset="-127"/>
              </a:rPr>
              <a:t>시장조사</a:t>
            </a:r>
            <a:r>
              <a:rPr lang="ko-KR" altLang="en-US" sz="4200" dirty="0">
                <a:solidFill>
                  <a:schemeClr val="bg1">
                    <a:lumMod val="7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를 위해</a:t>
            </a:r>
            <a:endParaRPr lang="en-US" altLang="ko-KR" sz="4200" dirty="0">
              <a:solidFill>
                <a:schemeClr val="bg1">
                  <a:lumMod val="75000"/>
                </a:schemeClr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r>
              <a:rPr lang="ko-KR" altLang="en-US" sz="4200" dirty="0">
                <a:solidFill>
                  <a:schemeClr val="bg1">
                    <a:lumMod val="7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하는 일들을 몽땅 </a:t>
            </a:r>
            <a:r>
              <a:rPr lang="ko-KR" altLang="en-US" sz="4200" dirty="0">
                <a:latin typeface="페이퍼로지 6 SemiBold" pitchFamily="2" charset="-127"/>
                <a:ea typeface="페이퍼로지 6 SemiBold" pitchFamily="2" charset="-127"/>
              </a:rPr>
              <a:t>리스트업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B5F10A7-7731-3122-CF55-939C83C601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516784" y="3123526"/>
            <a:ext cx="6403753" cy="337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34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B7E5D-3BB8-4480-8FA8-12075D46A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2E64AB-E143-0D3F-C2D5-3651097EBD65}"/>
              </a:ext>
            </a:extLst>
          </p:cNvPr>
          <p:cNvSpPr txBox="1"/>
          <p:nvPr/>
        </p:nvSpPr>
        <p:spPr>
          <a:xfrm>
            <a:off x="364066" y="330201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페이퍼로지 6 SemiBold" pitchFamily="2" charset="-127"/>
                <a:ea typeface="페이퍼로지 6 SemiBold" pitchFamily="2" charset="-127"/>
              </a:rPr>
              <a:t>① 기획하기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D7B9D5-51E8-05BD-B8D8-717752F89E98}"/>
              </a:ext>
            </a:extLst>
          </p:cNvPr>
          <p:cNvSpPr txBox="1"/>
          <p:nvPr/>
        </p:nvSpPr>
        <p:spPr>
          <a:xfrm>
            <a:off x="364066" y="1092201"/>
            <a:ext cx="70615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200" dirty="0">
                <a:latin typeface="페이퍼로지 6 SemiBold" pitchFamily="2" charset="-127"/>
                <a:ea typeface="페이퍼로지 6 SemiBold" pitchFamily="2" charset="-127"/>
              </a:rPr>
              <a:t>AI</a:t>
            </a:r>
            <a:r>
              <a:rPr lang="ko-KR" altLang="en-US" sz="4200" dirty="0">
                <a:latin typeface="페이퍼로지 6 SemiBold" pitchFamily="2" charset="-127"/>
                <a:ea typeface="페이퍼로지 6 SemiBold" pitchFamily="2" charset="-127"/>
              </a:rPr>
              <a:t>한테 이렇게 요청</a:t>
            </a:r>
            <a:r>
              <a:rPr lang="ko-KR" altLang="en-US" sz="4200" dirty="0">
                <a:solidFill>
                  <a:schemeClr val="bg1">
                    <a:lumMod val="7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을 했습니다</a:t>
            </a:r>
            <a:r>
              <a:rPr lang="en-US" altLang="ko-KR" sz="4200" dirty="0">
                <a:solidFill>
                  <a:schemeClr val="bg1">
                    <a:lumMod val="7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.</a:t>
            </a:r>
            <a:endParaRPr lang="ko-KR" altLang="en-US" sz="4200" dirty="0">
              <a:solidFill>
                <a:schemeClr val="bg1">
                  <a:lumMod val="75000"/>
                </a:schemeClr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26498D68-A0D9-1CC9-D18B-B8888AB572D3}"/>
              </a:ext>
            </a:extLst>
          </p:cNvPr>
          <p:cNvSpPr/>
          <p:nvPr/>
        </p:nvSpPr>
        <p:spPr>
          <a:xfrm rot="10800000">
            <a:off x="3219982" y="3208867"/>
            <a:ext cx="8777284" cy="2252132"/>
          </a:xfrm>
          <a:custGeom>
            <a:avLst/>
            <a:gdLst>
              <a:gd name="csX0" fmla="*/ 7126106 w 7391400"/>
              <a:gd name="csY0" fmla="*/ 1896533 h 1896533"/>
              <a:gd name="csX1" fmla="*/ 265294 w 7391400"/>
              <a:gd name="csY1" fmla="*/ 1896533 h 1896533"/>
              <a:gd name="csX2" fmla="*/ 0 w 7391400"/>
              <a:gd name="csY2" fmla="*/ 1631239 h 1896533"/>
              <a:gd name="csX3" fmla="*/ 0 w 7391400"/>
              <a:gd name="csY3" fmla="*/ 570094 h 1896533"/>
              <a:gd name="csX4" fmla="*/ 265294 w 7391400"/>
              <a:gd name="csY4" fmla="*/ 304800 h 1896533"/>
              <a:gd name="csX5" fmla="*/ 306832 w 7391400"/>
              <a:gd name="csY5" fmla="*/ 304800 h 1896533"/>
              <a:gd name="csX6" fmla="*/ 483616 w 7391400"/>
              <a:gd name="csY6" fmla="*/ 0 h 1896533"/>
              <a:gd name="csX7" fmla="*/ 660400 w 7391400"/>
              <a:gd name="csY7" fmla="*/ 304800 h 1896533"/>
              <a:gd name="csX8" fmla="*/ 7126106 w 7391400"/>
              <a:gd name="csY8" fmla="*/ 304800 h 1896533"/>
              <a:gd name="csX9" fmla="*/ 7391400 w 7391400"/>
              <a:gd name="csY9" fmla="*/ 570094 h 1896533"/>
              <a:gd name="csX10" fmla="*/ 7391400 w 7391400"/>
              <a:gd name="csY10" fmla="*/ 1631239 h 1896533"/>
              <a:gd name="csX11" fmla="*/ 7126106 w 7391400"/>
              <a:gd name="csY11" fmla="*/ 1896533 h 18965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7391400" h="1896533">
                <a:moveTo>
                  <a:pt x="7126106" y="1896533"/>
                </a:moveTo>
                <a:lnTo>
                  <a:pt x="265294" y="1896533"/>
                </a:lnTo>
                <a:cubicBezTo>
                  <a:pt x="118776" y="1896533"/>
                  <a:pt x="0" y="1777757"/>
                  <a:pt x="0" y="1631239"/>
                </a:cubicBezTo>
                <a:lnTo>
                  <a:pt x="0" y="570094"/>
                </a:lnTo>
                <a:cubicBezTo>
                  <a:pt x="0" y="423576"/>
                  <a:pt x="118776" y="304800"/>
                  <a:pt x="265294" y="304800"/>
                </a:cubicBezTo>
                <a:lnTo>
                  <a:pt x="306832" y="304800"/>
                </a:lnTo>
                <a:lnTo>
                  <a:pt x="483616" y="0"/>
                </a:lnTo>
                <a:lnTo>
                  <a:pt x="660400" y="304800"/>
                </a:lnTo>
                <a:lnTo>
                  <a:pt x="7126106" y="304800"/>
                </a:lnTo>
                <a:cubicBezTo>
                  <a:pt x="7272624" y="304800"/>
                  <a:pt x="7391400" y="423576"/>
                  <a:pt x="7391400" y="570094"/>
                </a:cubicBezTo>
                <a:lnTo>
                  <a:pt x="7391400" y="1631239"/>
                </a:lnTo>
                <a:cubicBezTo>
                  <a:pt x="7391400" y="1777757"/>
                  <a:pt x="7272624" y="1896533"/>
                  <a:pt x="7126106" y="18965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0B4163-E188-AF04-D30B-A0466ED4B34C}"/>
              </a:ext>
            </a:extLst>
          </p:cNvPr>
          <p:cNvSpPr txBox="1"/>
          <p:nvPr/>
        </p:nvSpPr>
        <p:spPr>
          <a:xfrm>
            <a:off x="3677633" y="3389868"/>
            <a:ext cx="749596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2400" dirty="0">
                <a:latin typeface="페이퍼로지 4 Regular" pitchFamily="2" charset="-127"/>
                <a:ea typeface="페이퍼로지 4 Regular" pitchFamily="2" charset="-127"/>
              </a:rPr>
              <a:t>테이블</a:t>
            </a:r>
            <a:r>
              <a:rPr lang="en-US" altLang="ko-KR" sz="2400" dirty="0"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lang="ko-KR" altLang="en-US" sz="2400" dirty="0">
                <a:latin typeface="페이퍼로지 4 Regular" pitchFamily="2" charset="-127"/>
                <a:ea typeface="페이퍼로지 4 Regular" pitchFamily="2" charset="-127"/>
              </a:rPr>
              <a:t>이 업무를 자동화하고 싶어</a:t>
            </a:r>
            <a:r>
              <a:rPr lang="en-US" altLang="ko-KR" sz="24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r>
              <a:rPr lang="ko-KR" altLang="en-US" sz="2400" dirty="0">
                <a:latin typeface="페이퍼로지 4 Regular" pitchFamily="2" charset="-127"/>
                <a:ea typeface="페이퍼로지 4 Regular" pitchFamily="2" charset="-127"/>
              </a:rPr>
              <a:t>이 프로젝트를 모르는 사람도 알아볼 수 있도록 폴더를 최대한</a:t>
            </a:r>
            <a:endParaRPr lang="en-US" altLang="ko-KR" sz="2400" dirty="0"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2400" dirty="0">
                <a:latin typeface="페이퍼로지 4 Regular" pitchFamily="2" charset="-127"/>
                <a:ea typeface="페이퍼로지 4 Regular" pitchFamily="2" charset="-127"/>
              </a:rPr>
              <a:t>깔끔하고 구조적으로 </a:t>
            </a:r>
            <a:r>
              <a:rPr lang="en-US" altLang="ko-KR" sz="2400" dirty="0">
                <a:latin typeface="페이퍼로지 4 Regular" pitchFamily="2" charset="-127"/>
                <a:ea typeface="페이퍼로지 4 Regular" pitchFamily="2" charset="-127"/>
              </a:rPr>
              <a:t>PRD.MD*</a:t>
            </a:r>
            <a:r>
              <a:rPr lang="ko-KR" altLang="en-US" sz="2400" dirty="0">
                <a:latin typeface="페이퍼로지 4 Regular" pitchFamily="2" charset="-127"/>
                <a:ea typeface="페이퍼로지 4 Regular" pitchFamily="2" charset="-127"/>
              </a:rPr>
              <a:t>로 정리해줘</a:t>
            </a:r>
            <a:endParaRPr lang="en-US" altLang="ko-KR" sz="2400" dirty="0"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2400" dirty="0">
                <a:latin typeface="페이퍼로지 4 Regular" pitchFamily="2" charset="-127"/>
                <a:ea typeface="페이퍼로지 4 Regular" pitchFamily="2" charset="-127"/>
              </a:rPr>
              <a:t>구현이 어려운 부분은 솔직하게 의견을 줘</a:t>
            </a:r>
          </a:p>
        </p:txBody>
      </p:sp>
      <p:pic>
        <p:nvPicPr>
          <p:cNvPr id="4" name="그림 3" descr="Claude 아이콘, 로고, 기호 – PNG, SVG 무료 다운로드">
            <a:extLst>
              <a:ext uri="{FF2B5EF4-FFF2-40B4-BE49-F238E27FC236}">
                <a16:creationId xmlns:a16="http://schemas.microsoft.com/office/drawing/2014/main" id="{E66D8E8F-B364-CAFF-0530-1EDE5EA00E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902570" y="2891455"/>
            <a:ext cx="698411" cy="698411"/>
          </a:xfrm>
          <a:prstGeom prst="ellipse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9B587E-EDAC-3100-0CDB-A631CC0F429E}"/>
              </a:ext>
            </a:extLst>
          </p:cNvPr>
          <p:cNvSpPr txBox="1"/>
          <p:nvPr/>
        </p:nvSpPr>
        <p:spPr>
          <a:xfrm>
            <a:off x="3251775" y="5201735"/>
            <a:ext cx="7171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*PRD : Product Requirements Document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무엇을 만들 것인지 정의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*MD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: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Markdown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형식으로 작성해서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AI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가 이해하기 쉬운 형식</a:t>
            </a:r>
          </a:p>
        </p:txBody>
      </p:sp>
    </p:spTree>
    <p:extLst>
      <p:ext uri="{BB962C8B-B14F-4D97-AF65-F5344CB8AC3E}">
        <p14:creationId xmlns:p14="http://schemas.microsoft.com/office/powerpoint/2010/main" val="2238740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17D09-3398-CD2D-3E44-837F39019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96683C-1155-3BD0-E6E5-6C0DDE0807EC}"/>
              </a:ext>
            </a:extLst>
          </p:cNvPr>
          <p:cNvSpPr txBox="1"/>
          <p:nvPr/>
        </p:nvSpPr>
        <p:spPr>
          <a:xfrm>
            <a:off x="364066" y="330201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페이퍼로지 6 SemiBold" pitchFamily="2" charset="-127"/>
                <a:ea typeface="페이퍼로지 6 SemiBold" pitchFamily="2" charset="-127"/>
              </a:rPr>
              <a:t>① 기획하기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0E1853-C7DF-C405-D468-3C22DDDD8ED2}"/>
              </a:ext>
            </a:extLst>
          </p:cNvPr>
          <p:cNvSpPr txBox="1"/>
          <p:nvPr/>
        </p:nvSpPr>
        <p:spPr>
          <a:xfrm>
            <a:off x="364066" y="1092201"/>
            <a:ext cx="697017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200" dirty="0">
                <a:latin typeface="페이퍼로지 6 SemiBold" pitchFamily="2" charset="-127"/>
                <a:ea typeface="페이퍼로지 6 SemiBold" pitchFamily="2" charset="-127"/>
              </a:rPr>
              <a:t>크로스체크 요청</a:t>
            </a:r>
            <a:r>
              <a:rPr lang="ko-KR" altLang="en-US" sz="4200" dirty="0">
                <a:solidFill>
                  <a:schemeClr val="bg1">
                    <a:lumMod val="7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으로</a:t>
            </a:r>
            <a:endParaRPr lang="en-US" altLang="ko-KR" sz="4200" dirty="0">
              <a:solidFill>
                <a:schemeClr val="bg1">
                  <a:lumMod val="75000"/>
                </a:schemeClr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r>
              <a:rPr lang="ko-KR" altLang="en-US" sz="4200" dirty="0">
                <a:solidFill>
                  <a:schemeClr val="bg1">
                    <a:lumMod val="7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더 상세히 기획할 수 있었습니다</a:t>
            </a:r>
            <a:r>
              <a:rPr lang="en-US" altLang="ko-KR" sz="4200" dirty="0">
                <a:solidFill>
                  <a:schemeClr val="bg1">
                    <a:lumMod val="7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.</a:t>
            </a:r>
            <a:endParaRPr lang="ko-KR" altLang="en-US" sz="4200" dirty="0">
              <a:solidFill>
                <a:schemeClr val="bg1">
                  <a:lumMod val="75000"/>
                </a:schemeClr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4B50ACF7-2B43-BF95-0083-BDF0B330EF73}"/>
              </a:ext>
            </a:extLst>
          </p:cNvPr>
          <p:cNvSpPr/>
          <p:nvPr/>
        </p:nvSpPr>
        <p:spPr>
          <a:xfrm rot="10800000">
            <a:off x="3219982" y="3208866"/>
            <a:ext cx="8777284" cy="1384995"/>
          </a:xfrm>
          <a:custGeom>
            <a:avLst/>
            <a:gdLst>
              <a:gd name="csX0" fmla="*/ 7126106 w 7391400"/>
              <a:gd name="csY0" fmla="*/ 1896533 h 1896533"/>
              <a:gd name="csX1" fmla="*/ 265294 w 7391400"/>
              <a:gd name="csY1" fmla="*/ 1896533 h 1896533"/>
              <a:gd name="csX2" fmla="*/ 0 w 7391400"/>
              <a:gd name="csY2" fmla="*/ 1631239 h 1896533"/>
              <a:gd name="csX3" fmla="*/ 0 w 7391400"/>
              <a:gd name="csY3" fmla="*/ 570094 h 1896533"/>
              <a:gd name="csX4" fmla="*/ 265294 w 7391400"/>
              <a:gd name="csY4" fmla="*/ 304800 h 1896533"/>
              <a:gd name="csX5" fmla="*/ 306832 w 7391400"/>
              <a:gd name="csY5" fmla="*/ 304800 h 1896533"/>
              <a:gd name="csX6" fmla="*/ 483616 w 7391400"/>
              <a:gd name="csY6" fmla="*/ 0 h 1896533"/>
              <a:gd name="csX7" fmla="*/ 660400 w 7391400"/>
              <a:gd name="csY7" fmla="*/ 304800 h 1896533"/>
              <a:gd name="csX8" fmla="*/ 7126106 w 7391400"/>
              <a:gd name="csY8" fmla="*/ 304800 h 1896533"/>
              <a:gd name="csX9" fmla="*/ 7391400 w 7391400"/>
              <a:gd name="csY9" fmla="*/ 570094 h 1896533"/>
              <a:gd name="csX10" fmla="*/ 7391400 w 7391400"/>
              <a:gd name="csY10" fmla="*/ 1631239 h 1896533"/>
              <a:gd name="csX11" fmla="*/ 7126106 w 7391400"/>
              <a:gd name="csY11" fmla="*/ 1896533 h 18965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7391400" h="1896533">
                <a:moveTo>
                  <a:pt x="7126106" y="1896533"/>
                </a:moveTo>
                <a:lnTo>
                  <a:pt x="265294" y="1896533"/>
                </a:lnTo>
                <a:cubicBezTo>
                  <a:pt x="118776" y="1896533"/>
                  <a:pt x="0" y="1777757"/>
                  <a:pt x="0" y="1631239"/>
                </a:cubicBezTo>
                <a:lnTo>
                  <a:pt x="0" y="570094"/>
                </a:lnTo>
                <a:cubicBezTo>
                  <a:pt x="0" y="423576"/>
                  <a:pt x="118776" y="304800"/>
                  <a:pt x="265294" y="304800"/>
                </a:cubicBezTo>
                <a:lnTo>
                  <a:pt x="306832" y="304800"/>
                </a:lnTo>
                <a:lnTo>
                  <a:pt x="483616" y="0"/>
                </a:lnTo>
                <a:lnTo>
                  <a:pt x="660400" y="304800"/>
                </a:lnTo>
                <a:lnTo>
                  <a:pt x="7126106" y="304800"/>
                </a:lnTo>
                <a:cubicBezTo>
                  <a:pt x="7272624" y="304800"/>
                  <a:pt x="7391400" y="423576"/>
                  <a:pt x="7391400" y="570094"/>
                </a:cubicBezTo>
                <a:lnTo>
                  <a:pt x="7391400" y="1631239"/>
                </a:lnTo>
                <a:cubicBezTo>
                  <a:pt x="7391400" y="1777757"/>
                  <a:pt x="7272624" y="1896533"/>
                  <a:pt x="7126106" y="18965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6450D2-B2E8-6BB3-BE52-F9A0F1BB07B8}"/>
              </a:ext>
            </a:extLst>
          </p:cNvPr>
          <p:cNvSpPr txBox="1"/>
          <p:nvPr/>
        </p:nvSpPr>
        <p:spPr>
          <a:xfrm>
            <a:off x="3677633" y="3389868"/>
            <a:ext cx="75713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200" dirty="0">
                <a:latin typeface="페이퍼로지 4 Regular" pitchFamily="2" charset="-127"/>
                <a:ea typeface="페이퍼로지 4 Regular" pitchFamily="2" charset="-127"/>
              </a:rPr>
              <a:t>너는 </a:t>
            </a:r>
            <a:r>
              <a:rPr lang="en-US" altLang="ko-KR" sz="2200" dirty="0">
                <a:latin typeface="페이퍼로지 4 Regular" pitchFamily="2" charset="-127"/>
                <a:ea typeface="페이퍼로지 4 Regular" pitchFamily="2" charset="-127"/>
              </a:rPr>
              <a:t>23</a:t>
            </a:r>
            <a:r>
              <a:rPr lang="ko-KR" altLang="en-US" sz="2200" dirty="0" err="1">
                <a:latin typeface="페이퍼로지 4 Regular" pitchFamily="2" charset="-127"/>
                <a:ea typeface="페이퍼로지 4 Regular" pitchFamily="2" charset="-127"/>
              </a:rPr>
              <a:t>년차</a:t>
            </a:r>
            <a:r>
              <a:rPr lang="ko-KR" altLang="en-US" sz="2200" dirty="0">
                <a:latin typeface="페이퍼로지 4 Regular" pitchFamily="2" charset="-127"/>
                <a:ea typeface="페이퍼로지 4 Regular" pitchFamily="2" charset="-127"/>
              </a:rPr>
              <a:t> 개발팀장이야</a:t>
            </a:r>
            <a:r>
              <a:rPr lang="en-US" altLang="ko-KR" sz="2200" dirty="0">
                <a:latin typeface="페이퍼로지 4 Regular" pitchFamily="2" charset="-127"/>
                <a:ea typeface="페이퍼로지 4 Regular" pitchFamily="2" charset="-127"/>
              </a:rPr>
              <a:t>. </a:t>
            </a:r>
            <a:r>
              <a:rPr lang="ko-KR" altLang="en-US" sz="2200" dirty="0">
                <a:latin typeface="페이퍼로지 4 Regular" pitchFamily="2" charset="-127"/>
                <a:ea typeface="페이퍼로지 4 Regular" pitchFamily="2" charset="-127"/>
              </a:rPr>
              <a:t>주니어가 이런 </a:t>
            </a:r>
            <a:r>
              <a:rPr lang="en-US" altLang="ko-KR" sz="2200" dirty="0">
                <a:latin typeface="페이퍼로지 4 Regular" pitchFamily="2" charset="-127"/>
                <a:ea typeface="페이퍼로지 4 Regular" pitchFamily="2" charset="-127"/>
              </a:rPr>
              <a:t>PRD.MD</a:t>
            </a:r>
            <a:r>
              <a:rPr lang="ko-KR" altLang="en-US" sz="2200" dirty="0">
                <a:latin typeface="페이퍼로지 4 Regular" pitchFamily="2" charset="-127"/>
                <a:ea typeface="페이퍼로지 4 Regular" pitchFamily="2" charset="-127"/>
              </a:rPr>
              <a:t>를</a:t>
            </a:r>
            <a:endParaRPr lang="en-US" altLang="ko-KR" sz="2200" dirty="0"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2200" dirty="0">
                <a:latin typeface="페이퍼로지 4 Regular" pitchFamily="2" charset="-127"/>
                <a:ea typeface="페이퍼로지 4 Regular" pitchFamily="2" charset="-127"/>
              </a:rPr>
              <a:t>준비해오면 실제 개발을 진행한다고 했을 때 어떤 피드백을 </a:t>
            </a:r>
            <a:r>
              <a:rPr lang="ko-KR" altLang="en-US" sz="2200" dirty="0" err="1">
                <a:latin typeface="페이퍼로지 4 Regular" pitchFamily="2" charset="-127"/>
                <a:ea typeface="페이퍼로지 4 Regular" pitchFamily="2" charset="-127"/>
              </a:rPr>
              <a:t>줄거야</a:t>
            </a:r>
            <a:r>
              <a:rPr lang="en-US" altLang="ko-KR" sz="2200" dirty="0">
                <a:latin typeface="페이퍼로지 4 Regular" pitchFamily="2" charset="-127"/>
                <a:ea typeface="페이퍼로지 4 Regular" pitchFamily="2" charset="-127"/>
              </a:rPr>
              <a:t>?</a:t>
            </a:r>
            <a:endParaRPr lang="ko-KR" altLang="en-US" sz="2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2" name="그림 1" descr="범용 생성형 AI 플랫폼, 챗GPT(ChatGPT) - AI매터스">
            <a:extLst>
              <a:ext uri="{FF2B5EF4-FFF2-40B4-BE49-F238E27FC236}">
                <a16:creationId xmlns:a16="http://schemas.microsoft.com/office/drawing/2014/main" id="{39034D42-7994-7782-A216-93B0C31C6A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829" t="21829" r="23658" b="23658"/>
          <a:stretch>
            <a:fillRect/>
          </a:stretch>
        </p:blipFill>
        <p:spPr>
          <a:xfrm>
            <a:off x="2924516" y="3002802"/>
            <a:ext cx="654518" cy="654518"/>
          </a:xfrm>
          <a:prstGeom prst="ellipse">
            <a:avLst/>
          </a:prstGeom>
        </p:spPr>
      </p:pic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2E72CC02-754A-43CC-8DE3-A22C79BE9A64}"/>
              </a:ext>
            </a:extLst>
          </p:cNvPr>
          <p:cNvSpPr/>
          <p:nvPr/>
        </p:nvSpPr>
        <p:spPr>
          <a:xfrm rot="10800000">
            <a:off x="3219982" y="4799925"/>
            <a:ext cx="8777284" cy="1384995"/>
          </a:xfrm>
          <a:custGeom>
            <a:avLst/>
            <a:gdLst>
              <a:gd name="csX0" fmla="*/ 7126106 w 7391400"/>
              <a:gd name="csY0" fmla="*/ 1896533 h 1896533"/>
              <a:gd name="csX1" fmla="*/ 265294 w 7391400"/>
              <a:gd name="csY1" fmla="*/ 1896533 h 1896533"/>
              <a:gd name="csX2" fmla="*/ 0 w 7391400"/>
              <a:gd name="csY2" fmla="*/ 1631239 h 1896533"/>
              <a:gd name="csX3" fmla="*/ 0 w 7391400"/>
              <a:gd name="csY3" fmla="*/ 570094 h 1896533"/>
              <a:gd name="csX4" fmla="*/ 265294 w 7391400"/>
              <a:gd name="csY4" fmla="*/ 304800 h 1896533"/>
              <a:gd name="csX5" fmla="*/ 306832 w 7391400"/>
              <a:gd name="csY5" fmla="*/ 304800 h 1896533"/>
              <a:gd name="csX6" fmla="*/ 483616 w 7391400"/>
              <a:gd name="csY6" fmla="*/ 0 h 1896533"/>
              <a:gd name="csX7" fmla="*/ 660400 w 7391400"/>
              <a:gd name="csY7" fmla="*/ 304800 h 1896533"/>
              <a:gd name="csX8" fmla="*/ 7126106 w 7391400"/>
              <a:gd name="csY8" fmla="*/ 304800 h 1896533"/>
              <a:gd name="csX9" fmla="*/ 7391400 w 7391400"/>
              <a:gd name="csY9" fmla="*/ 570094 h 1896533"/>
              <a:gd name="csX10" fmla="*/ 7391400 w 7391400"/>
              <a:gd name="csY10" fmla="*/ 1631239 h 1896533"/>
              <a:gd name="csX11" fmla="*/ 7126106 w 7391400"/>
              <a:gd name="csY11" fmla="*/ 1896533 h 18965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7391400" h="1896533">
                <a:moveTo>
                  <a:pt x="7126106" y="1896533"/>
                </a:moveTo>
                <a:lnTo>
                  <a:pt x="265294" y="1896533"/>
                </a:lnTo>
                <a:cubicBezTo>
                  <a:pt x="118776" y="1896533"/>
                  <a:pt x="0" y="1777757"/>
                  <a:pt x="0" y="1631239"/>
                </a:cubicBezTo>
                <a:lnTo>
                  <a:pt x="0" y="570094"/>
                </a:lnTo>
                <a:cubicBezTo>
                  <a:pt x="0" y="423576"/>
                  <a:pt x="118776" y="304800"/>
                  <a:pt x="265294" y="304800"/>
                </a:cubicBezTo>
                <a:lnTo>
                  <a:pt x="306832" y="304800"/>
                </a:lnTo>
                <a:lnTo>
                  <a:pt x="483616" y="0"/>
                </a:lnTo>
                <a:lnTo>
                  <a:pt x="660400" y="304800"/>
                </a:lnTo>
                <a:lnTo>
                  <a:pt x="7126106" y="304800"/>
                </a:lnTo>
                <a:cubicBezTo>
                  <a:pt x="7272624" y="304800"/>
                  <a:pt x="7391400" y="423576"/>
                  <a:pt x="7391400" y="570094"/>
                </a:cubicBezTo>
                <a:lnTo>
                  <a:pt x="7391400" y="1631239"/>
                </a:lnTo>
                <a:cubicBezTo>
                  <a:pt x="7391400" y="1777757"/>
                  <a:pt x="7272624" y="1896533"/>
                  <a:pt x="7126106" y="18965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B72E02-F061-01D7-9016-DD323530ACDA}"/>
              </a:ext>
            </a:extLst>
          </p:cNvPr>
          <p:cNvSpPr txBox="1"/>
          <p:nvPr/>
        </p:nvSpPr>
        <p:spPr>
          <a:xfrm>
            <a:off x="3677633" y="4980927"/>
            <a:ext cx="76418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200" dirty="0">
                <a:latin typeface="페이퍼로지 4 Regular" pitchFamily="2" charset="-127"/>
                <a:ea typeface="페이퍼로지 4 Regular" pitchFamily="2" charset="-127"/>
              </a:rPr>
              <a:t>이런 피드백을 받았는데 적용 가능한 내용만 적용해주고 헷갈리는 건</a:t>
            </a:r>
            <a:endParaRPr lang="en-US" altLang="ko-KR" sz="2200" dirty="0"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2200" dirty="0">
                <a:latin typeface="페이퍼로지 4 Regular" pitchFamily="2" charset="-127"/>
                <a:ea typeface="페이퍼로지 4 Regular" pitchFamily="2" charset="-127"/>
              </a:rPr>
              <a:t>꼭 </a:t>
            </a:r>
            <a:r>
              <a:rPr lang="ko-KR" altLang="en-US" sz="2200" dirty="0" err="1">
                <a:latin typeface="페이퍼로지 4 Regular" pitchFamily="2" charset="-127"/>
                <a:ea typeface="페이퍼로지 4 Regular" pitchFamily="2" charset="-127"/>
              </a:rPr>
              <a:t>나한테</a:t>
            </a:r>
            <a:r>
              <a:rPr lang="ko-KR" altLang="en-US" sz="2200" dirty="0">
                <a:latin typeface="페이퍼로지 4 Regular" pitchFamily="2" charset="-127"/>
                <a:ea typeface="페이퍼로지 4 Regular" pitchFamily="2" charset="-127"/>
              </a:rPr>
              <a:t> 묻고 진행해줘</a:t>
            </a:r>
            <a:r>
              <a:rPr lang="en-US" altLang="ko-KR" sz="2200" dirty="0">
                <a:latin typeface="페이퍼로지 4 Regular" pitchFamily="2" charset="-127"/>
                <a:ea typeface="페이퍼로지 4 Regular" pitchFamily="2" charset="-127"/>
              </a:rPr>
              <a:t>. </a:t>
            </a:r>
            <a:r>
              <a:rPr lang="ko-KR" altLang="en-US" sz="2200" dirty="0">
                <a:latin typeface="페이퍼로지 4 Regular" pitchFamily="2" charset="-127"/>
                <a:ea typeface="페이퍼로지 4 Regular" pitchFamily="2" charset="-127"/>
              </a:rPr>
              <a:t>처음부터 마지막까지 시뮬레이션 해줘</a:t>
            </a:r>
            <a:r>
              <a:rPr lang="en-US" altLang="ko-KR" sz="22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sz="2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3" name="그림 12" descr="Claude 아이콘, 로고, 기호 – PNG, SVG 무료 다운로드">
            <a:extLst>
              <a:ext uri="{FF2B5EF4-FFF2-40B4-BE49-F238E27FC236}">
                <a16:creationId xmlns:a16="http://schemas.microsoft.com/office/drawing/2014/main" id="{0C794D80-45E9-647D-6CE1-C95BBFE233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902570" y="4559993"/>
            <a:ext cx="698411" cy="69841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565860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374AA-7AB7-B750-140D-C9655B1B6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170D64-E4C6-FF9F-FA6D-CA5851F4A785}"/>
              </a:ext>
            </a:extLst>
          </p:cNvPr>
          <p:cNvSpPr txBox="1"/>
          <p:nvPr/>
        </p:nvSpPr>
        <p:spPr>
          <a:xfrm>
            <a:off x="364066" y="330201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페이퍼로지 6 SemiBold" pitchFamily="2" charset="-127"/>
                <a:ea typeface="페이퍼로지 6 SemiBold" pitchFamily="2" charset="-127"/>
              </a:rPr>
              <a:t>② 개발하기</a:t>
            </a:r>
          </a:p>
        </p:txBody>
      </p:sp>
    </p:spTree>
    <p:extLst>
      <p:ext uri="{BB962C8B-B14F-4D97-AF65-F5344CB8AC3E}">
        <p14:creationId xmlns:p14="http://schemas.microsoft.com/office/powerpoint/2010/main" val="1914378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137</Words>
  <Application>Microsoft Office PowerPoint</Application>
  <PresentationFormat>와이드스크린</PresentationFormat>
  <Paragraphs>25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맑은 고딕</vt:lpstr>
      <vt:lpstr>페이퍼로지 3 Light</vt:lpstr>
      <vt:lpstr>페이퍼로지 4 Regular</vt:lpstr>
      <vt:lpstr>페이퍼로지 6 SemiBold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Suan Choi</dc:creator>
  <cp:lastModifiedBy>Suan Choi</cp:lastModifiedBy>
  <cp:revision>5</cp:revision>
  <dcterms:created xsi:type="dcterms:W3CDTF">2026-09-13T07:18:50Z</dcterms:created>
  <dcterms:modified xsi:type="dcterms:W3CDTF">2026-09-13T08:10:15Z</dcterms:modified>
</cp:coreProperties>
</file>